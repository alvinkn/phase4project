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9" r:id="rId12"/>
    <p:sldId id="272" r:id="rId13"/>
    <p:sldId id="264" r:id="rId14"/>
    <p:sldId id="270" r:id="rId15"/>
    <p:sldId id="265" r:id="rId16"/>
    <p:sldId id="271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6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6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2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5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7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1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7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5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6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1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0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51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11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5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54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9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0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198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E613-7C1D-DACE-157C-BBB3FC967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350" y="1352551"/>
            <a:ext cx="5829300" cy="1102519"/>
          </a:xfrm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50800" dir="5400000" algn="ctr" rotWithShape="0">
              <a:schemeClr val="bg1">
                <a:lumMod val="85000"/>
                <a:lumOff val="15000"/>
              </a:schemeClr>
            </a:outerShdw>
            <a:softEdge rad="317500"/>
          </a:effectLst>
          <a:scene3d>
            <a:camera prst="orthographicFront"/>
            <a:lightRig rig="threePt" dir="t"/>
          </a:scene3d>
          <a:sp3d prstMaterial="dkEdge"/>
        </p:spPr>
        <p:txBody>
          <a:bodyPr/>
          <a:lstStyle/>
          <a:p>
            <a:r>
              <a:rPr lang="en-US" dirty="0">
                <a:effectLst>
                  <a:innerShdw blurRad="114300">
                    <a:srgbClr val="C00000"/>
                  </a:innerShdw>
                </a:effectLst>
              </a:rPr>
              <a:t>Phase 4 Project.</a:t>
            </a:r>
            <a:endParaRPr lang="en-KE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5D622-70E5-FD7D-B664-9629DA61B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1700" y="2802223"/>
            <a:ext cx="4800600" cy="228412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Group 2 Members</a:t>
            </a:r>
            <a:r>
              <a:rPr lang="en-US" sz="2400" dirty="0" smtClean="0"/>
              <a:t>:    </a:t>
            </a:r>
            <a:endParaRPr lang="en-US" sz="2400" dirty="0"/>
          </a:p>
          <a:p>
            <a:pPr marL="385763" indent="-385763">
              <a:buAutoNum type="arabicPeriod"/>
            </a:pPr>
            <a:r>
              <a:rPr lang="en-US" dirty="0"/>
              <a:t>Alvin </a:t>
            </a:r>
            <a:r>
              <a:rPr lang="en-US" dirty="0" smtClean="0"/>
              <a:t>Ng’eno</a:t>
            </a:r>
            <a:endParaRPr lang="en-US" dirty="0"/>
          </a:p>
          <a:p>
            <a:pPr marL="385763" indent="-385763">
              <a:buAutoNum type="arabicPeriod"/>
            </a:pPr>
            <a:r>
              <a:rPr lang="en-US" dirty="0"/>
              <a:t>Elsie Njambi</a:t>
            </a:r>
          </a:p>
          <a:p>
            <a:pPr marL="385763" indent="-385763">
              <a:buAutoNum type="arabicPeriod"/>
            </a:pPr>
            <a:r>
              <a:rPr lang="en-US" dirty="0" smtClean="0"/>
              <a:t>Ann Wahu</a:t>
            </a:r>
            <a:endParaRPr lang="en-US" dirty="0"/>
          </a:p>
          <a:p>
            <a:pPr marL="385763" indent="-385763">
              <a:buAutoNum type="arabicPeriod"/>
            </a:pPr>
            <a:r>
              <a:rPr lang="en-US" dirty="0"/>
              <a:t>Kigen </a:t>
            </a:r>
            <a:r>
              <a:rPr lang="en-US" dirty="0" smtClean="0"/>
              <a:t>Tuwei</a:t>
            </a:r>
            <a:endParaRPr lang="en-US" dirty="0"/>
          </a:p>
          <a:p>
            <a:pPr marL="385763" indent="-385763">
              <a:buAutoNum type="arabicPeriod"/>
            </a:pPr>
            <a:r>
              <a:rPr lang="en-US" dirty="0"/>
              <a:t>Mitchelle Mkan</a:t>
            </a:r>
          </a:p>
        </p:txBody>
      </p:sp>
    </p:spTree>
    <p:extLst>
      <p:ext uri="{BB962C8B-B14F-4D97-AF65-F5344CB8AC3E}">
        <p14:creationId xmlns:p14="http://schemas.microsoft.com/office/powerpoint/2010/main" val="274190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1983582"/>
            <a:ext cx="5829300" cy="110251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dirty="0">
                <a:effectLst>
                  <a:innerShdw blurRad="114300">
                    <a:srgbClr val="C00000"/>
                  </a:innerShdw>
                </a:effectLst>
              </a:rPr>
              <a:t>BrandPulse</a:t>
            </a:r>
            <a:r>
              <a:rPr dirty="0">
                <a:effectLst>
                  <a:innerShdw blurRad="114300">
                    <a:srgbClr val="C00000"/>
                  </a:innerShdw>
                </a:effectLst>
              </a:rPr>
              <a:t>: Decoding SXSW Sentiment</a:t>
            </a:r>
          </a:p>
          <a:p>
            <a:r>
              <a:rPr dirty="0">
                <a:effectLst>
                  <a:innerShdw blurRad="114300">
                    <a:srgbClr val="C00000"/>
                  </a:innerShdw>
                </a:effectLst>
              </a:rPr>
              <a:t>Competitive Intelligence on Apple &amp; Google Tweets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3873083"/>
            <a:ext cx="4800600" cy="1314450"/>
          </a:xfrm>
        </p:spPr>
        <p:txBody>
          <a:bodyPr>
            <a:normAutofit/>
          </a:bodyPr>
          <a:lstStyle/>
          <a:p>
            <a:r>
              <a:rPr sz="2400" dirty="0"/>
              <a:t>Social Media Sentiment Analysis for Marketing Decision-Making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Brands invest heavily in SXSW marketing campaigns but lack real-time insight into:</a:t>
            </a:r>
          </a:p>
          <a:p>
            <a:pPr marL="0" indent="0">
              <a:buNone/>
            </a:pPr>
            <a:r>
              <a:rPr dirty="0"/>
              <a:t>• Audience emotional response</a:t>
            </a:r>
          </a:p>
          <a:p>
            <a:pPr marL="0" indent="0">
              <a:buNone/>
            </a:pPr>
            <a:r>
              <a:rPr dirty="0"/>
              <a:t>• Competitive brand positioning</a:t>
            </a:r>
          </a:p>
          <a:p>
            <a:pPr marL="0" indent="0">
              <a:buNone/>
            </a:pPr>
            <a:r>
              <a:rPr dirty="0"/>
              <a:t>• Product features capturing attention</a:t>
            </a:r>
          </a:p>
          <a:p>
            <a:endParaRPr dirty="0"/>
          </a:p>
          <a:p>
            <a:pPr marL="0" indent="0">
              <a:buNone/>
            </a:pPr>
            <a:r>
              <a:rPr sz="2400" dirty="0"/>
              <a:t>Goal: Provide a data-driven view of Apple vs Google sentiment during SXSW.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27" y="685801"/>
            <a:ext cx="7772400" cy="1456267"/>
          </a:xfrm>
        </p:spPr>
        <p:txBody>
          <a:bodyPr/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Problem</a:t>
            </a:r>
            <a:r>
              <a:rPr dirty="0"/>
              <a:t> </a:t>
            </a:r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Marketing teams struggle to answer:</a:t>
            </a:r>
          </a:p>
          <a:p>
            <a:pPr marL="0" indent="0">
              <a:buNone/>
            </a:pPr>
            <a:r>
              <a:rPr dirty="0"/>
              <a:t>• Is our campaign resonating positively?</a:t>
            </a:r>
          </a:p>
          <a:p>
            <a:pPr marL="0" indent="0">
              <a:buNone/>
            </a:pPr>
            <a:r>
              <a:rPr dirty="0"/>
              <a:t>• How does sentiment compare to competitors?</a:t>
            </a:r>
          </a:p>
          <a:p>
            <a:pPr marL="0" indent="0">
              <a:buNone/>
            </a:pPr>
            <a:r>
              <a:rPr dirty="0"/>
              <a:t>• What features or stunts are generating positive, negative, or neutral reactions?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BrandPulse provides quantified sentiment and competitive intelligence.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sz="2200" dirty="0"/>
              <a:t>Marketing Directors (Apple, Google)</a:t>
            </a:r>
          </a:p>
          <a:p>
            <a:pPr marL="0" indent="0">
              <a:buNone/>
            </a:pPr>
            <a:r>
              <a:rPr dirty="0"/>
              <a:t>– Evidence-based decisions: amplify or stop campaigns.   – Identify real-time audience resonance.</a:t>
            </a:r>
          </a:p>
          <a:p>
            <a:endParaRPr dirty="0"/>
          </a:p>
          <a:p>
            <a:pPr marL="0" indent="0">
              <a:buNone/>
            </a:pPr>
            <a:r>
              <a:rPr sz="2200" dirty="0"/>
              <a:t>2. Brand Strategy Consultants</a:t>
            </a:r>
          </a:p>
          <a:p>
            <a:pPr marL="0" indent="0">
              <a:buNone/>
            </a:pPr>
            <a:r>
              <a:rPr dirty="0"/>
              <a:t>– Competitive benchmarking.</a:t>
            </a:r>
            <a:endParaRPr lang="en-US" dirty="0"/>
          </a:p>
          <a:p>
            <a:pPr marL="0" indent="0">
              <a:buNone/>
            </a:pPr>
            <a:r>
              <a:rPr dirty="0"/>
              <a:t>– Detect emerging trends and market gaps.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2200" dirty="0"/>
              <a:t>3. CMOs After SXSW</a:t>
            </a:r>
          </a:p>
          <a:p>
            <a:pPr marL="0" indent="0">
              <a:buNone/>
            </a:pPr>
            <a:r>
              <a:rPr dirty="0"/>
              <a:t>– Post-event analysis for </a:t>
            </a:r>
            <a:r>
              <a:rPr lang="en-US" dirty="0"/>
              <a:t>next year’s</a:t>
            </a:r>
            <a:r>
              <a:rPr dirty="0"/>
              <a:t> planning.</a:t>
            </a:r>
          </a:p>
          <a:p>
            <a:pPr marL="0" indent="0">
              <a:buNone/>
            </a:pPr>
            <a:r>
              <a:rPr dirty="0"/>
              <a:t>– Smarter budget allocation.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BrandPulse analyzes tweets about Apple &amp; Google from SXSW to deliver:</a:t>
            </a:r>
          </a:p>
          <a:p>
            <a:pPr marL="0" indent="0">
              <a:buNone/>
            </a:pPr>
            <a:r>
              <a:rPr dirty="0"/>
              <a:t>• Quantified sentiment scores</a:t>
            </a:r>
          </a:p>
          <a:p>
            <a:pPr marL="0" indent="0">
              <a:buNone/>
            </a:pPr>
            <a:r>
              <a:rPr dirty="0"/>
              <a:t>• Trend detection and topic clustering</a:t>
            </a:r>
          </a:p>
          <a:p>
            <a:pPr marL="0" indent="0">
              <a:buNone/>
            </a:pPr>
            <a:r>
              <a:rPr dirty="0"/>
              <a:t>• Cross-brand comparison</a:t>
            </a:r>
          </a:p>
          <a:p>
            <a:pPr marL="0" indent="0">
              <a:buNone/>
            </a:pPr>
            <a:r>
              <a:rPr dirty="0"/>
              <a:t>• Actionable insights for competitive marketing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Source: Twitter API / public tweet datasets</a:t>
            </a:r>
          </a:p>
          <a:p>
            <a:pPr marL="0" indent="0">
              <a:buNone/>
            </a:pPr>
            <a:r>
              <a:rPr dirty="0"/>
              <a:t>• Timeframe: During SXSW event window</a:t>
            </a:r>
          </a:p>
          <a:p>
            <a:pPr marL="0" indent="0">
              <a:buNone/>
            </a:pPr>
            <a:r>
              <a:rPr dirty="0"/>
              <a:t>• Brands: Apple &amp; Google products and campaigns</a:t>
            </a:r>
          </a:p>
          <a:p>
            <a:pPr marL="0" indent="0">
              <a:buNone/>
            </a:pPr>
            <a:r>
              <a:rPr dirty="0"/>
              <a:t>• Features: Tweet text, hashtags, timestamp, engagement metrics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Preprocessing: Cleaning, tokenizing, removing noise.</a:t>
            </a:r>
          </a:p>
          <a:p>
            <a:pPr marL="0" indent="0">
              <a:buNone/>
            </a:pPr>
            <a:r>
              <a:rPr dirty="0"/>
              <a:t>2. Sentiment Analysis: ML/NLP model to classify tweets.</a:t>
            </a:r>
          </a:p>
          <a:p>
            <a:pPr marL="0" indent="0">
              <a:buNone/>
            </a:pPr>
            <a:r>
              <a:rPr dirty="0"/>
              <a:t>3. Topic Modeling: Identify emerging themes.</a:t>
            </a:r>
          </a:p>
          <a:p>
            <a:pPr marL="0" indent="0">
              <a:buNone/>
            </a:pPr>
            <a:r>
              <a:rPr dirty="0"/>
              <a:t>4. Visualization: Sentiment trends &amp; competitive heatmaps.</a:t>
            </a:r>
          </a:p>
          <a:p>
            <a:pPr marL="0" indent="0">
              <a:buNone/>
            </a:pPr>
            <a:r>
              <a:rPr dirty="0"/>
              <a:t>5. Insights: What people love or criticize.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6111-68C5-60AF-6478-C1E8DC96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63" y="386388"/>
            <a:ext cx="7772400" cy="1456267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effectLst>
                  <a:innerShdw blurRad="114300">
                    <a:srgbClr val="C00000"/>
                  </a:innerShdw>
                </a:effectLst>
              </a:rPr>
              <a:t>Sentiment Distribution.</a:t>
            </a:r>
            <a:endParaRPr lang="en-KE" sz="4400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77E35F-FF92-571F-BBED-96B4587D1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42655"/>
            <a:ext cx="8160327" cy="47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4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8997-89A4-628A-52A9-00BCE509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innerShdw blurRad="114300">
                    <a:srgbClr val="C00000"/>
                  </a:innerShdw>
                </a:effectLst>
              </a:rPr>
              <a:t>Sentiment Distribution in Percentage.</a:t>
            </a:r>
            <a:endParaRPr lang="en-KE" sz="3200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930F93-9CB7-D21C-DD9E-B9BA0FECC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856" y="1842655"/>
            <a:ext cx="7453744" cy="471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C07C2-F429-2A68-9CAF-DA9CA963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innerShdw blurRad="114300">
                    <a:srgbClr val="C00000"/>
                  </a:innerShdw>
                </a:effectLst>
              </a:rPr>
              <a:t>Brand Performance.</a:t>
            </a:r>
            <a:endParaRPr lang="en-KE" sz="3200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93CA52-88C8-9A74-C9D1-31AC21982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717964"/>
            <a:ext cx="8243454" cy="47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F9D0-075C-A849-A8E3-D30467AA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effectLst>
                  <a:innerShdw blurRad="114300">
                    <a:srgbClr val="C00000"/>
                  </a:innerShdw>
                </a:effectLst>
              </a:rPr>
              <a:t>Key</a:t>
            </a:r>
            <a:r>
              <a:rPr lang="en-US" dirty="0"/>
              <a:t> </a:t>
            </a:r>
            <a:r>
              <a:rPr lang="en-US" sz="4400" dirty="0">
                <a:effectLst>
                  <a:innerShdw blurRad="114300">
                    <a:srgbClr val="C00000"/>
                  </a:innerShdw>
                </a:effectLst>
              </a:rPr>
              <a:t>Business Insights.</a:t>
            </a:r>
            <a:endParaRPr lang="en-KE" sz="4400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C9586-0BCF-59F0-D456-2405BA46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Since positive sentiment dominates, brands can leverage this for marketing amplification and customer engagement campaigns.</a:t>
            </a:r>
          </a:p>
          <a:p>
            <a:r>
              <a:rPr lang="en-US" dirty="0"/>
              <a:t>The concentration of tweets in the mid-length range indicates that content strategies should target concise yet informative messaging to match natural user behavior.</a:t>
            </a:r>
          </a:p>
          <a:p>
            <a:r>
              <a:rPr lang="en-US" dirty="0"/>
              <a:t>Monitoring tweets for negative sentiment, even if less frequent, is important for brand reputation management.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2806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effectLst>
                  <a:innerShdw blurRad="114300">
                    <a:srgbClr val="C00000"/>
                  </a:innerShdw>
                </a:effectLst>
              </a:rPr>
              <a:t>Strategic </a:t>
            </a:r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For Marketing Directors: </a:t>
            </a:r>
          </a:p>
          <a:p>
            <a:pPr marL="385763" indent="-385763">
              <a:buAutoNum type="arabicPeriod"/>
            </a:pPr>
            <a:r>
              <a:rPr lang="en-US" sz="2000" dirty="0"/>
              <a:t>Continue successful strategies</a:t>
            </a:r>
          </a:p>
          <a:p>
            <a:pPr marL="0" indent="0">
              <a:buNone/>
            </a:pPr>
            <a:r>
              <a:rPr lang="en-US" dirty="0"/>
              <a:t>• Apple: Maintain pop-up store approach for major events </a:t>
            </a:r>
          </a:p>
          <a:p>
            <a:pPr marL="0" indent="0">
              <a:buNone/>
            </a:pPr>
            <a:r>
              <a:rPr lang="en-US" dirty="0"/>
              <a:t>• Google: Continue engaging party and event strategy </a:t>
            </a: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rabicPeriod" startAt="2"/>
            </a:pPr>
            <a:r>
              <a:rPr lang="en-US" sz="2000" dirty="0"/>
              <a:t>Address pain points </a:t>
            </a:r>
          </a:p>
          <a:p>
            <a:pPr marL="0" indent="0">
              <a:buNone/>
            </a:pPr>
            <a:r>
              <a:rPr lang="en-US" dirty="0"/>
              <a:t>• Monitor negative sentiment around specific product issues </a:t>
            </a:r>
          </a:p>
          <a:p>
            <a:pPr marL="0" indent="0">
              <a:buNone/>
            </a:pPr>
            <a:r>
              <a:rPr lang="en-US" dirty="0"/>
              <a:t>• Implement real-time social listening for rapid response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33D7-9D6C-0469-64B7-1A90CABF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609601"/>
            <a:ext cx="7924800" cy="1456267"/>
          </a:xfrm>
        </p:spPr>
        <p:txBody>
          <a:bodyPr/>
          <a:lstStyle/>
          <a:p>
            <a:pPr algn="ctr"/>
            <a:r>
              <a:rPr lang="en-US" sz="4400" dirty="0">
                <a:effectLst>
                  <a:innerShdw blurRad="114300">
                    <a:srgbClr val="C00000"/>
                  </a:innerShdw>
                </a:effectLst>
              </a:rPr>
              <a:t>CONT…</a:t>
            </a:r>
            <a:endParaRPr lang="en-KE" sz="4400" dirty="0">
              <a:effectLst>
                <a:innerShdw blurRad="114300">
                  <a:srgbClr val="C00000"/>
                </a:inn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AF066-92A6-1125-E952-AC34A5520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For brand strategy consultants: </a:t>
            </a:r>
          </a:p>
          <a:p>
            <a:pPr marL="385763" indent="-385763">
              <a:buAutoNum type="arabicPeriod"/>
            </a:pPr>
            <a:r>
              <a:rPr lang="en-US" sz="2000" dirty="0"/>
              <a:t>Quantitative competitive analysis </a:t>
            </a:r>
          </a:p>
          <a:p>
            <a:pPr marL="0" indent="0">
              <a:buNone/>
            </a:pPr>
            <a:r>
              <a:rPr lang="en-US" dirty="0"/>
              <a:t>• Use sentiment scores for objective brand positioning </a:t>
            </a:r>
          </a:p>
          <a:p>
            <a:pPr marL="0" indent="0">
              <a:buNone/>
            </a:pPr>
            <a:r>
              <a:rPr lang="en-US" dirty="0"/>
              <a:t>• Identify market gaps and opportunities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sz="2000" dirty="0"/>
              <a:t>. Real-time campaign optimization </a:t>
            </a:r>
          </a:p>
          <a:p>
            <a:pPr marL="0" indent="0">
              <a:buNone/>
            </a:pPr>
            <a:r>
              <a:rPr lang="en-US" dirty="0"/>
              <a:t>• Implement BrandPulse for ongoing campaign monitoring </a:t>
            </a:r>
          </a:p>
          <a:p>
            <a:pPr marL="0" indent="0">
              <a:buNone/>
            </a:pPr>
            <a:r>
              <a:rPr lang="en-US" dirty="0"/>
              <a:t>• Adjust strategies based on live sentiment data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6101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1"/>
            <a:ext cx="7772400" cy="1456267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effectLst>
                  <a:innerShdw blurRad="114300">
                    <a:srgbClr val="C00000"/>
                  </a:inn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BrandPulse provides actionable, real-time insights into Apple &amp; Google brand sentiment.</a:t>
            </a:r>
          </a:p>
          <a:p>
            <a:r>
              <a:rPr dirty="0"/>
              <a:t>Empowers marketing leaders with data-driven decisions for competitive advantage.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FF64A2-0384-D7B7-A9AD-3C9F34D6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1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420"/>
            <a:ext cx="9143999" cy="6913420"/>
          </a:xfrm>
        </p:spPr>
      </p:pic>
    </p:spTree>
    <p:extLst>
      <p:ext uri="{BB962C8B-B14F-4D97-AF65-F5344CB8AC3E}">
        <p14:creationId xmlns:p14="http://schemas.microsoft.com/office/powerpoint/2010/main" val="282512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126</TotalTime>
  <Words>489</Words>
  <Application>Microsoft Office PowerPoint</Application>
  <PresentationFormat>On-screen Show (4:3)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Celestial</vt:lpstr>
      <vt:lpstr>Phase 4 Project.</vt:lpstr>
      <vt:lpstr>      BrandPulse: Decoding SXSW Sentiment Competitive Intelligence on Apple &amp; Google Tweets</vt:lpstr>
      <vt:lpstr>Business Understanding</vt:lpstr>
      <vt:lpstr>Problem Statement</vt:lpstr>
      <vt:lpstr>Key Stakeholders</vt:lpstr>
      <vt:lpstr>Value Proposition</vt:lpstr>
      <vt:lpstr>Dataset Overview</vt:lpstr>
      <vt:lpstr>Analysis Approach</vt:lpstr>
      <vt:lpstr>Sentiment Distribution.</vt:lpstr>
      <vt:lpstr>Sentiment Distribution in Percentage.</vt:lpstr>
      <vt:lpstr>Brand Performance.</vt:lpstr>
      <vt:lpstr>Key Business Insights.</vt:lpstr>
      <vt:lpstr>Strategic Recommendations</vt:lpstr>
      <vt:lpstr>CONT…</vt:lpstr>
      <vt:lpstr>Conclusion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4 Project.</dc:title>
  <dc:subject/>
  <dc:creator>El$IE</dc:creator>
  <cp:keywords/>
  <dc:description>generated using python-pptx</dc:description>
  <cp:lastModifiedBy>Admin</cp:lastModifiedBy>
  <cp:revision>12</cp:revision>
  <dcterms:created xsi:type="dcterms:W3CDTF">2013-01-27T09:14:16Z</dcterms:created>
  <dcterms:modified xsi:type="dcterms:W3CDTF">2025-12-07T13:59:39Z</dcterms:modified>
  <cp:category/>
</cp:coreProperties>
</file>